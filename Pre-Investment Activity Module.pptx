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32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1F3764"/>
          </a:solidFill>
          <a:ln/>
        </p:spPr>
      </p:sp>
      <p:sp>
        <p:nvSpPr>
          <p:cNvPr id="3" name="Text 1"/>
          <p:cNvSpPr/>
          <p:nvPr/>
        </p:nvSpPr>
        <p:spPr>
          <a:xfrm>
            <a:off x="7909560" y="1051560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55280" y="160020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8120" y="231343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104120" y="1600200"/>
            <a:ext cx="658368" cy="658368"/>
          </a:xfrm>
          <a:prstGeom prst="ellipse">
            <a:avLst/>
          </a:prstGeom>
          <a:solidFill>
            <a:srgbClr val="15806A"/>
          </a:solidFill>
          <a:ln/>
        </p:spPr>
      </p:sp>
      <p:sp>
        <p:nvSpPr>
          <p:cNvPr id="8" name="Text 6"/>
          <p:cNvSpPr/>
          <p:nvPr/>
        </p:nvSpPr>
        <p:spPr>
          <a:xfrm>
            <a:off x="10104120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66960" y="231343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301752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373075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104120" y="3017520"/>
            <a:ext cx="658368" cy="658368"/>
          </a:xfrm>
          <a:prstGeom prst="ellipse">
            <a:avLst/>
          </a:prstGeom>
          <a:solidFill>
            <a:srgbClr val="6A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10104120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6960" y="373075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4434840"/>
            <a:ext cx="658368" cy="658368"/>
          </a:xfrm>
          <a:prstGeom prst="ellipse">
            <a:avLst/>
          </a:prstGeom>
          <a:solidFill>
            <a:srgbClr val="B9760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4434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514807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04120" y="44348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04120" y="4434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966960" y="5148072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8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Space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123444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RAILWAYS  ·  GOVERNMENT OF INDIA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1965960"/>
            <a:ext cx="6446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Pre-Investment Activity Module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portal for managing the complete lifecycle of pre-investment activities of railway construction projects.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07492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IRPSM  ·  Role-based digital workflow  ·  Real-time dashboards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Centre for Railway Information Systems (CRIS)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Pre-investment activities span multiple departments and zones, and were tracked manually through files and email.</a:t>
            </a:r>
            <a:endParaRPr lang="en-US" sz="1550" dirty="0"/>
          </a:p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at the managerial level — each stage of every activity is difficult to monitor.</a:t>
            </a:r>
            <a:endParaRPr lang="en-US" sz="1550" dirty="0"/>
          </a:p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caused by manual, sequential processing across offices.</a:t>
            </a:r>
            <a:endParaRPr lang="en-US" sz="1550" dirty="0"/>
          </a:p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scattered and hard for review, arbitration or audit.</a:t>
            </a:r>
            <a:endParaRPr lang="en-US" sz="1550" dirty="0"/>
          </a:p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 on status, pendency and statutory timelines.</a:t>
            </a:r>
            <a:endParaRPr lang="en-US" sz="1550" dirty="0"/>
          </a:p>
          <a:p>
            <a:pPr marL="228600" indent="-2286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intervening pre-sanction period is not fully utilised for detailing the post-sanction scope of works.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635240" y="1233637"/>
            <a:ext cx="4007815" cy="4024163"/>
          </a:xfrm>
          <a:prstGeom prst="roundRect">
            <a:avLst>
              <a:gd name="adj" fmla="val 205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600200"/>
            <a:ext cx="3459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system — key gaps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53939" y="2057400"/>
            <a:ext cx="2836741" cy="2958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visibility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sequential approvals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paper records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Board–Zone coordination</a:t>
            </a:r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3090672"/>
            <a:ext cx="27276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3959352"/>
            <a:ext cx="27276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4828032"/>
            <a:ext cx="2727655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web portal was needed to manage the complete lifecycle across all zones.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Functionalities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647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lifecycle online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management of every pre-investment activity, end to 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3018" y="17647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7647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3018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workflow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3018" y="28620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flow from field unit up to Railway Board monitoring.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8757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3077" y="17647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16" name="Text 14"/>
          <p:cNvSpPr/>
          <p:nvPr/>
        </p:nvSpPr>
        <p:spPr>
          <a:xfrm>
            <a:off x="8463077" y="17647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63077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3077" y="28620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responsibilities for Board, CAO, CE, Dy. CE, Nodal officers.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793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93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956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766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with IRPSM; officer master and designations from HRMS.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8698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3018" y="42793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26" name="Text 24"/>
          <p:cNvSpPr/>
          <p:nvPr/>
        </p:nvSpPr>
        <p:spPr>
          <a:xfrm>
            <a:off x="4643018" y="42793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3018" y="4956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geo-data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3018" y="53766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geo-referenced land parcels, milestone tracking and delay alerts.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8757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3077" y="4279392"/>
            <a:ext cx="603504" cy="603504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31" name="Text 29"/>
          <p:cNvSpPr/>
          <p:nvPr/>
        </p:nvSpPr>
        <p:spPr>
          <a:xfrm>
            <a:off x="8463077" y="427939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63077" y="4956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audit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3077" y="5376672"/>
            <a:ext cx="29513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MIS reports with a complete, tamper-evident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Covered under the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76656" cy="6766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Acquisition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records, notifications, awards and possession.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580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3018" y="1783080"/>
            <a:ext cx="676656" cy="676656"/>
          </a:xfrm>
          <a:prstGeom prst="ellipse">
            <a:avLst/>
          </a:prstGeom>
          <a:solidFill>
            <a:srgbClr val="15806A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7830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65978" y="17830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Clearance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43018" y="26974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Stage-I / Stage-II clearance and compensatory afforestation.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15087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3077" y="1783080"/>
            <a:ext cx="676656" cy="67665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8463077" y="17830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86037" y="17830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Shifting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63077" y="26974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of crossing utilities with executing agencies.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6A3F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676656" cy="676656"/>
          </a:xfrm>
          <a:prstGeom prst="ellipse">
            <a:avLst/>
          </a:prstGeom>
          <a:solidFill>
            <a:srgbClr val="6A3FB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976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Approvals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 of GADs and engineering drawings.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8698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B976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3018" y="4297680"/>
            <a:ext cx="676656" cy="676656"/>
          </a:xfrm>
          <a:prstGeom prst="ellipse">
            <a:avLst/>
          </a:prstGeom>
          <a:solidFill>
            <a:srgbClr val="B9760C"/>
          </a:solidFill>
          <a:ln/>
        </p:spPr>
      </p:sp>
      <p:sp>
        <p:nvSpPr>
          <p:cNvPr id="26" name="Text 24"/>
          <p:cNvSpPr/>
          <p:nvPr/>
        </p:nvSpPr>
        <p:spPr>
          <a:xfrm>
            <a:off x="4643018" y="42976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65978" y="42976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Packaging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43018" y="52120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and finalisation of tender packages.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8757" y="402336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3077" y="4297680"/>
            <a:ext cx="676656" cy="67665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8463077" y="429768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86037" y="4297680"/>
            <a:ext cx="217413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Office Space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63077" y="5212080"/>
            <a:ext cx="29513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clearance of temporary offices.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755648" y="5517040"/>
            <a:ext cx="5376672" cy="786384"/>
          </a:xfrm>
          <a:prstGeom prst="roundRect">
            <a:avLst>
              <a:gd name="adj" fmla="val 6977"/>
            </a:avLst>
          </a:prstGeom>
          <a:solidFill>
            <a:srgbClr val="4AA0D6"/>
          </a:solidFill>
          <a:ln/>
        </p:spPr>
      </p:sp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Administrative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400800" cy="786384"/>
          </a:xfrm>
          <a:prstGeom prst="roundRect">
            <a:avLst>
              <a:gd name="adj" fmla="val 6977"/>
            </a:avLst>
          </a:prstGeom>
          <a:solidFill>
            <a:srgbClr val="1F37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6035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Board   </a:t>
            </a:r>
            <a:r>
              <a:rPr lang="en-US" sz="11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projects into the module · apex-level monitoring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22576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675"/>
                </a:solidFill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7552" y="2560320"/>
            <a:ext cx="6144768" cy="786384"/>
          </a:xfrm>
          <a:prstGeom prst="roundRect">
            <a:avLst>
              <a:gd name="adj" fmla="val 6977"/>
            </a:avLst>
          </a:prstGeom>
          <a:solidFill>
            <a:srgbClr val="244A86"/>
          </a:solidFill>
          <a:ln/>
        </p:spPr>
      </p:sp>
      <p:sp>
        <p:nvSpPr>
          <p:cNvPr id="8" name="Text 6"/>
          <p:cNvSpPr/>
          <p:nvPr/>
        </p:nvSpPr>
        <p:spPr>
          <a:xfrm>
            <a:off x="1216152" y="2560320"/>
            <a:ext cx="57790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(Construction)   </a:t>
            </a:r>
            <a:r>
              <a:rPr lang="en-US" sz="11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the project to the CE construction  · monitors progress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6152" y="3337239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675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43584" y="3566160"/>
            <a:ext cx="5888736" cy="786384"/>
          </a:xfrm>
          <a:prstGeom prst="roundRect">
            <a:avLst>
              <a:gd name="adj" fmla="val 6977"/>
            </a:avLst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1362456" y="3566160"/>
            <a:ext cx="56327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Engineer (Construction)   </a:t>
            </a:r>
            <a:r>
              <a:rPr lang="en-US" sz="11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activities · Authenticates the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7212" y="4360084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675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99616" y="4572000"/>
            <a:ext cx="5632704" cy="786384"/>
          </a:xfrm>
          <a:prstGeom prst="roundRect">
            <a:avLst>
              <a:gd name="adj" fmla="val 6977"/>
            </a:avLst>
          </a:prstGeom>
          <a:solidFill>
            <a:srgbClr val="2E86C7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5523617"/>
            <a:ext cx="52669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Dy. Chief Engineer  </a:t>
            </a:r>
            <a:r>
              <a:rPr lang="en-US" sz="11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Level Data entry, documents and uploads. 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55064" y="5312664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675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65376" y="4564300"/>
            <a:ext cx="50109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Officer   </a:t>
            </a:r>
            <a:r>
              <a:rPr lang="en-US" sz="11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and Verify data entry, documents and uploads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0" y="1554480"/>
            <a:ext cx="3779215" cy="4480560"/>
          </a:xfrm>
          <a:prstGeom prst="roundRect">
            <a:avLst>
              <a:gd name="adj" fmla="val 2178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783080"/>
            <a:ext cx="3230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levels work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2286000"/>
            <a:ext cx="318485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seeding &amp; monitoring
</a:t>
            </a: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Board and CAO seed and watch projects across zones.
</a:t>
            </a: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activity updates
</a:t>
            </a:r>
            <a:r>
              <a:rPr lang="en-US" sz="12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CE, Dy. CE and Nodal officers record and progress each activity.
</a:t>
            </a:r>
            <a:r>
              <a:rPr lang="en-US" sz="125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scoped by designation, zone.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Multi-Level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852" y="2221992"/>
            <a:ext cx="676656" cy="67665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/>
          <p:nvPr/>
        </p:nvSpPr>
        <p:spPr>
          <a:xfrm>
            <a:off x="1101852" y="2221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Railway Board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31720" y="1965960"/>
            <a:ext cx="54475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15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76474" y="196596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686" y="2221992"/>
            <a:ext cx="676656" cy="67665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686" y="2221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67914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67914" y="3383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CAO to the zone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9554" y="1965960"/>
            <a:ext cx="54475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15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04308" y="196596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57520" y="2221992"/>
            <a:ext cx="676656" cy="67665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/>
          <p:nvPr/>
        </p:nvSpPr>
        <p:spPr>
          <a:xfrm>
            <a:off x="5757520" y="2221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95748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assigned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95748" y="3383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Chief Engineer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87388" y="1965960"/>
            <a:ext cx="54475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15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32141" y="196596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5353" y="2221992"/>
            <a:ext cx="676656" cy="67665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4" name="Text 22"/>
          <p:cNvSpPr/>
          <p:nvPr/>
        </p:nvSpPr>
        <p:spPr>
          <a:xfrm>
            <a:off x="8085353" y="2221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23581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&amp; verified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23581" y="3383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Dy. CE / 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15221" y="1965960"/>
            <a:ext cx="54475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8A15"/>
                </a:solidFill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859975" y="196596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13187" y="2221992"/>
            <a:ext cx="676656" cy="67665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3187" y="222199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51415" y="29900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51415" y="3383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CAO &amp; Board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F3764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record level: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r>
              <a:rPr lang="en-US" sz="16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600" b="1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verification</a:t>
            </a:r>
            <a:r>
              <a:rPr lang="en-US" sz="16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600" b="1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r>
              <a:rPr lang="en-US" sz="16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600" b="1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Secure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IRPSM — Single Sign-On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login and end-to-end data continuity with the project system.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508760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0480" y="1856232"/>
            <a:ext cx="566928" cy="56692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658048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84568" y="16916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integration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84568" y="2084832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master, designations and postings drive role assignment.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92424"/>
            <a:ext cx="566928" cy="566928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92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227832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621024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scoped by designation, zone and division.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3044952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0480" y="3392424"/>
            <a:ext cx="566928" cy="56692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0480" y="3392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84568" y="3227832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Malware-scanned uploads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84568" y="3621024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attachment is virus-scanned before it is stored.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81144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928616"/>
            <a:ext cx="566928" cy="566928"/>
          </a:xfrm>
          <a:prstGeom prst="ellipse">
            <a:avLst/>
          </a:prstGeom>
          <a:solidFill>
            <a:srgbClr val="1F376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28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4764024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157216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 history of every change.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4448" y="4581144"/>
            <a:ext cx="5318608" cy="12801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0480" y="4928616"/>
            <a:ext cx="566928" cy="56692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0480" y="4928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4568" y="4764024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internal access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284568" y="5157216"/>
            <a:ext cx="4175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throughout; the portal is for internal railway use only.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MIS &amp;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18608" cy="4526280"/>
          </a:xfrm>
          <a:prstGeom prst="roundRect">
            <a:avLst>
              <a:gd name="adj" fmla="val 1818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18608" cy="640080"/>
          </a:xfrm>
          <a:prstGeom prst="rect">
            <a:avLst/>
          </a:prstGeom>
          <a:solidFill>
            <a:srgbClr val="1F376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MIS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632808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Activity-wise cumulative progress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 and pendency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projects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and division-wise performance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MIS report export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1508760"/>
            <a:ext cx="5318608" cy="4526280"/>
          </a:xfrm>
          <a:prstGeom prst="roundRect">
            <a:avLst>
              <a:gd name="adj" fmla="val 1818"/>
            </a:avLst>
          </a:prstGeom>
          <a:solidFill>
            <a:srgbClr val="F1F5FA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508760"/>
            <a:ext cx="5318608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8"/>
          <p:cNvSpPr/>
          <p:nvPr/>
        </p:nvSpPr>
        <p:spPr>
          <a:xfrm>
            <a:off x="6644488" y="1508760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0208" y="2377440"/>
            <a:ext cx="4632808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accountability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better-informed decisions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Board–Zone coordination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repository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Timely, efficient project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310896"/>
          </a:xfrm>
          <a:prstGeom prst="rect">
            <a:avLst/>
          </a:prstGeom>
          <a:solidFill>
            <a:srgbClr val="D98A1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vs Online Module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80752"/>
              </p:ext>
            </p:extLst>
          </p:nvPr>
        </p:nvGraphicFramePr>
        <p:xfrm>
          <a:off x="548640" y="1600200"/>
          <a:ext cx="11064240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system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Pre-Investment Activity Module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Fragmented, office-wise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and centralized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follow-up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and MIS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Excel, scattered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single repository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timelines visible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timelines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track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D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and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37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digital workflow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7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18745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1605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18888" y="1874520"/>
            <a:ext cx="548640" cy="548640"/>
          </a:xfrm>
          <a:prstGeom prst="ellipse">
            <a:avLst/>
          </a:prstGeom>
          <a:solidFill>
            <a:srgbClr val="15806A"/>
          </a:solidFill>
          <a:ln/>
        </p:spPr>
      </p:sp>
      <p:sp>
        <p:nvSpPr>
          <p:cNvPr id="6" name="Text 4"/>
          <p:cNvSpPr/>
          <p:nvPr/>
        </p:nvSpPr>
        <p:spPr>
          <a:xfrm>
            <a:off x="481888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77256" y="187452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54772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35624" y="1874520"/>
            <a:ext cx="548640" cy="548640"/>
          </a:xfrm>
          <a:prstGeom prst="ellipse">
            <a:avLst/>
          </a:prstGeom>
          <a:solidFill>
            <a:srgbClr val="6A3FB5"/>
          </a:solidFill>
          <a:ln/>
        </p:spPr>
      </p:sp>
      <p:sp>
        <p:nvSpPr>
          <p:cNvPr id="10" name="Text 8"/>
          <p:cNvSpPr/>
          <p:nvPr/>
        </p:nvSpPr>
        <p:spPr>
          <a:xfrm>
            <a:off x="613562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93992" y="1874520"/>
            <a:ext cx="548640" cy="548640"/>
          </a:xfrm>
          <a:prstGeom prst="ellipse">
            <a:avLst/>
          </a:prstGeom>
          <a:solidFill>
            <a:srgbClr val="B9760C"/>
          </a:solidFill>
          <a:ln/>
        </p:spPr>
      </p:sp>
      <p:sp>
        <p:nvSpPr>
          <p:cNvPr id="12" name="Text 10"/>
          <p:cNvSpPr/>
          <p:nvPr/>
        </p:nvSpPr>
        <p:spPr>
          <a:xfrm>
            <a:off x="679399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8745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F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Pre-Investment Activity Module  ·  Indian Railways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52628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6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for pre-investment activity management across railway zones.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Centre for Railway Information Systems (CRIS)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763</Words>
  <Application>Microsoft Office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Rose</cp:lastModifiedBy>
  <cp:revision>6</cp:revision>
  <dcterms:created xsi:type="dcterms:W3CDTF">2026-07-07T10:05:21Z</dcterms:created>
  <dcterms:modified xsi:type="dcterms:W3CDTF">2026-07-07T10:27:49Z</dcterms:modified>
</cp:coreProperties>
</file>